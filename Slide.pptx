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8" r:id="rId4"/>
    <p:sldId id="271" r:id="rId5"/>
    <p:sldId id="261" r:id="rId6"/>
    <p:sldId id="259" r:id="rId7"/>
    <p:sldId id="274" r:id="rId8"/>
    <p:sldId id="27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" y="-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Interactions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1D7-42DE-B041-DB40C9C58D0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780-44A7-BEA5-F54E7B114CE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1D7-42DE-B041-DB40C9C58D0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01D7-42DE-B041-DB40C9C58D0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</a:t>
                    </a:r>
                    <a:fld id="{7440666D-6A1B-4245-B848-EAC857A40008}" type="PERCENTAGE">
                      <a:rPr lang="en-US" baseline="0"/>
                      <a:pPr/>
                      <a:t>[PERCENTAGE]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1D7-42DE-B041-DB40C9C58D02}"/>
                </c:ext>
              </c:extLst>
            </c:dLbl>
            <c:dLbl>
              <c:idx val="2"/>
              <c:layout>
                <c:manualLayout>
                  <c:x val="5.978161909448762E-3"/>
                  <c:y val="5.120502883827332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D7-42DE-B041-DB40C9C58D02}"/>
                </c:ext>
              </c:extLst>
            </c:dLbl>
            <c:dLbl>
              <c:idx val="3"/>
              <c:layout>
                <c:manualLayout>
                  <c:x val="4.9664124015748601E-3"/>
                  <c:y val="0.1009803702644949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1D7-42DE-B041-DB40C9C58D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click</c:v>
                </c:pt>
                <c:pt idx="1">
                  <c:v>like</c:v>
                </c:pt>
                <c:pt idx="2">
                  <c:v>share</c:v>
                </c:pt>
                <c:pt idx="3">
                  <c:v>follow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142321193</c:v>
                </c:pt>
                <c:pt idx="1">
                  <c:v>10141195</c:v>
                </c:pt>
                <c:pt idx="2">
                  <c:v>1128312</c:v>
                </c:pt>
                <c:pt idx="3">
                  <c:v>857678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D7-42DE-B041-DB40C9C58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ln w="25400" cap="flat">
              <a:solidFill>
                <a:srgbClr val="1F4E7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A0</c:v>
                </c:pt>
                <c:pt idx="1">
                  <c:v>A1</c:v>
                </c:pt>
                <c:pt idx="2">
                  <c:v>A2</c:v>
                </c:pt>
                <c:pt idx="3">
                  <c:v>A3</c:v>
                </c:pt>
                <c:pt idx="4">
                  <c:v>A4</c:v>
                </c:pt>
                <c:pt idx="5">
                  <c:v>A5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0.317</c:v>
                </c:pt>
                <c:pt idx="1">
                  <c:v>0.32600000000000001</c:v>
                </c:pt>
                <c:pt idx="2">
                  <c:v>0.255</c:v>
                </c:pt>
                <c:pt idx="3">
                  <c:v>1.2999999999999999E-2</c:v>
                </c:pt>
                <c:pt idx="4">
                  <c:v>2.5000000000000001E-2</c:v>
                </c:pt>
                <c:pt idx="5">
                  <c:v>2.4E-2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8A-4DC8-8502-ABEE3E61A8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NDCG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A0</c:v>
                </c:pt>
                <c:pt idx="1">
                  <c:v>A1</c:v>
                </c:pt>
                <c:pt idx="2">
                  <c:v>A2</c:v>
                </c:pt>
                <c:pt idx="3">
                  <c:v>A3</c:v>
                </c:pt>
                <c:pt idx="4">
                  <c:v>A4</c:v>
                </c:pt>
                <c:pt idx="5">
                  <c:v>A5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0.107</c:v>
                </c:pt>
                <c:pt idx="1">
                  <c:v>0.15</c:v>
                </c:pt>
                <c:pt idx="2">
                  <c:v>8.1000000000000003E-2</c:v>
                </c:pt>
                <c:pt idx="3">
                  <c:v>1.2E-2</c:v>
                </c:pt>
                <c:pt idx="4">
                  <c:v>1.6E-2</c:v>
                </c:pt>
                <c:pt idx="5">
                  <c:v>0.11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8A-4DC8-8502-ABEE3E61A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7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Background image (Unsplash): https://unsplash.com/photos/network-connection-big-data-visualisation-abstract-digital-background-technology-backdrop-uEGPW7Q6Uhc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ABCE-7B1C-ED33-18A2-A6550085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15D17-DD31-9BB0-3EF9-C8F7D947F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591BE-9F9C-FF1E-77BD-0EE0EF379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Tenrec dataset overview (multi-feedback, true negatives): https://proceedings.neurips.cc/paper_files/paper/2022/hash/4ad4fc1528374422dd7a69dea9e72948-Abstract-Datasets_and_Benchmarks.html
- Exposure bias discussion (survey reference): https://www.sciencedirect.com/science/article/pii/S1566253523002221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D2D3E-0EA1-8B06-3812-6056F07E5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6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Tenrec dataset overview (multi-feedback, true negatives): https://proceedings.neurips.cc/paper_files/paper/2022/hash/4ad4fc1528374422dd7a69dea9e72948-Abstract-Datasets_and_Benchmarks.html
- Exposure bias discussion (survey reference): https://www.sciencedirect.com/science/article/pii/S1566253523002221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03A57-CCF6-998E-0891-8B65F1C9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45689-807C-3D1C-4280-DC3EAAC9A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B390F-BD2D-8619-BAA0-95A970C7D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NGCF (graph CF with embedding propagation): https://arxiv.org/abs/1905.08108
- LightGCN (simplified graph CF): https://arxiv.org/abs/2002.02126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50E95-7D28-5E15-6DC8-C323BE2FE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32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LightGCN paper (assumptions &amp; simplification): https://arxiv.org/abs/2002.02126
- Tenrec has multi-feedback and true negatives: https://proceedings.neurips.cc/paper_files/paper/2022/hash/4ad4fc1528374422dd7a69dea9e72948-Abstract-Datasets_and_Benchmarks.html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Tenrec motivation (multi-feedback, true negatives): https://proceedings.neurips.cc/paper_files/paper/2022/hash/4ad4fc1528374422dd7a69dea9e72948-Abstract-Datasets_and_Benchmarks.html
- Exposure bias concept (survey reference): https://www.sciencedirect.com/science/article/pii/S1566253523002221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8517-8625-97F1-DA11-74FA69F60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819BD-5851-CDA7-42BF-A6B16E47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57137-8AD3-BC83-6FF7-F48A4381A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45DFF-807C-D8ED-374F-CFC499138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36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DBA6-B82C-824C-B45C-18737292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340F3-D029-5F3B-F629-CE780BA60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BAD7A-2508-8D52-3E06-800CB2F20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51378-A6F1-C617-E4FD-CAD45822D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3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Diagram created by the author (thesis pipeline).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Diagram created by the author (tiered denoising / pseudo-labeling).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LightGCN paper: https://arxiv.org/abs/2002.02126
- Diagram created by the author (training flow).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Curves and results are from the author's experiments.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Ablation numbers are from the author's experiments.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LightGCN: https://arxiv.org/abs/2002.02126
- Tenrec dataset: https://proceedings.neurips.cc/paper_files/paper/2022/hash/4ad4fc1528374422dd7a69dea9e72948-Abstract-Datasets_and_Benchmarks.html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unsplash.png"/>
          <p:cNvPicPr>
            <a:picLocks noChangeAspect="1"/>
          </p:cNvPicPr>
          <p:nvPr/>
        </p:nvPicPr>
        <p:blipFill>
          <a:blip r:embed="rId3"/>
          <a:srcRect l="3345" r="3345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31520" y="1920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IN RECOMMENDER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49808" y="2788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Trinh Quang Anh - ITCSIU21164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9808" y="3246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presntation</a:t>
            </a:r>
          </a:p>
        </p:txBody>
      </p:sp>
      <p:sp>
        <p:nvSpPr>
          <p:cNvPr id="7" name="Shape 4"/>
          <p:cNvSpPr/>
          <p:nvPr/>
        </p:nvSpPr>
        <p:spPr>
          <a:xfrm>
            <a:off x="731520" y="3886200"/>
            <a:ext cx="4206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39684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preference, not exposure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8BF9-7B82-5F5F-B9DD-9A377E97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EEB09D-05AD-10FA-7117-E8680D4566ED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6482B5-D832-C1BF-1848-4F906BCFDB6D}"/>
              </a:ext>
            </a:extLst>
          </p:cNvPr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Systems: </a:t>
            </a:r>
            <a:r>
              <a:rPr lang="vi-V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ground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6C0717-95AD-FED6-D085-8FCCFD10D0A5}"/>
              </a:ext>
            </a:extLst>
          </p:cNvPr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C0B9F1-2B54-8E14-D6B6-5531348A6BBA}"/>
              </a:ext>
            </a:extLst>
          </p:cNvPr>
          <p:cNvSpPr/>
          <p:nvPr/>
        </p:nvSpPr>
        <p:spPr>
          <a:xfrm>
            <a:off x="82296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era of information explosion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536711-C454-1298-1084-58F680C53C94}"/>
              </a:ext>
            </a:extLst>
          </p:cNvPr>
          <p:cNvSpPr/>
          <p:nvPr/>
        </p:nvSpPr>
        <p:spPr>
          <a:xfrm>
            <a:off x="82296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61735F-E2F5-A521-EABB-901F01EC836F}"/>
              </a:ext>
            </a:extLst>
          </p:cNvPr>
          <p:cNvSpPr/>
          <p:nvPr/>
        </p:nvSpPr>
        <p:spPr>
          <a:xfrm>
            <a:off x="109728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A2C07BF-A08C-E097-5C69-537518C60D3F}"/>
              </a:ext>
            </a:extLst>
          </p:cNvPr>
          <p:cNvSpPr/>
          <p:nvPr/>
        </p:nvSpPr>
        <p:spPr>
          <a:xfrm>
            <a:off x="1097280" y="19659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9A535D-9E4E-0F50-03C4-4C89B37DB929}"/>
              </a:ext>
            </a:extLst>
          </p:cNvPr>
          <p:cNvSpPr/>
          <p:nvPr/>
        </p:nvSpPr>
        <p:spPr>
          <a:xfrm>
            <a:off x="109728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2D9A73A-D140-4499-3C5B-6D75A6DB73B6}"/>
              </a:ext>
            </a:extLst>
          </p:cNvPr>
          <p:cNvSpPr/>
          <p:nvPr/>
        </p:nvSpPr>
        <p:spPr>
          <a:xfrm>
            <a:off x="1097280" y="35661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E07DADE-379A-B441-A99E-2E7C947FC138}"/>
              </a:ext>
            </a:extLst>
          </p:cNvPr>
          <p:cNvSpPr/>
          <p:nvPr/>
        </p:nvSpPr>
        <p:spPr>
          <a:xfrm>
            <a:off x="1097280" y="4526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D88B470-B730-E397-C087-E2FA45EA80AD}"/>
              </a:ext>
            </a:extLst>
          </p:cNvPr>
          <p:cNvSpPr/>
          <p:nvPr/>
        </p:nvSpPr>
        <p:spPr>
          <a:xfrm>
            <a:off x="1097280" y="48463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BFF921A-6D07-F3A4-B258-1A99DD5A5900}"/>
              </a:ext>
            </a:extLst>
          </p:cNvPr>
          <p:cNvSpPr/>
          <p:nvPr/>
        </p:nvSpPr>
        <p:spPr>
          <a:xfrm>
            <a:off x="6446519" y="1389328"/>
            <a:ext cx="4892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D7CB8D-E51D-4624-D08A-99B0A930071F}"/>
              </a:ext>
            </a:extLst>
          </p:cNvPr>
          <p:cNvSpPr/>
          <p:nvPr/>
        </p:nvSpPr>
        <p:spPr>
          <a:xfrm>
            <a:off x="6503668" y="1628192"/>
            <a:ext cx="477774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feeds are unlimited, but user time is finite 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5DAF91-2C74-6DBC-3E01-77E3C7A9EBFD}"/>
              </a:ext>
            </a:extLst>
          </p:cNvPr>
          <p:cNvSpPr/>
          <p:nvPr/>
        </p:nvSpPr>
        <p:spPr>
          <a:xfrm>
            <a:off x="6949440" y="224028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dirty="0"/>
              <a:t>Modern platforms deliver massive amounts of content</a:t>
            </a:r>
            <a:endParaRPr lang="vi-VN" dirty="0"/>
          </a:p>
          <a:p>
            <a:pPr>
              <a:buSzPct val="100000"/>
            </a:pPr>
            <a:endParaRPr lang="vi-VN" dirty="0"/>
          </a:p>
          <a:p>
            <a:pPr>
              <a:buSzPct val="100000"/>
            </a:pPr>
            <a:endParaRPr lang="vi-VN" dirty="0"/>
          </a:p>
          <a:p>
            <a:pPr marL="228600" indent="-228600">
              <a:buSzPct val="100000"/>
              <a:buChar char="•"/>
            </a:pPr>
            <a:r>
              <a:rPr lang="en-US" dirty="0"/>
              <a:t>Users are exposed to far more items than they can consume.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85E88B1-D8ED-B730-CD3E-4BF3A9B752AB}"/>
              </a:ext>
            </a:extLst>
          </p:cNvPr>
          <p:cNvSpPr/>
          <p:nvPr/>
        </p:nvSpPr>
        <p:spPr>
          <a:xfrm>
            <a:off x="6568440" y="5192952"/>
            <a:ext cx="452628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49F402D-4DB1-DBDF-A33C-A52BF6F12F73}"/>
              </a:ext>
            </a:extLst>
          </p:cNvPr>
          <p:cNvSpPr/>
          <p:nvPr/>
        </p:nvSpPr>
        <p:spPr>
          <a:xfrm>
            <a:off x="6568440" y="51929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information over load and persionalize content</a:t>
            </a:r>
            <a:endParaRPr 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301A1C4-2407-4A5F-802A-977ACEC04747}"/>
              </a:ext>
            </a:extLst>
          </p:cNvPr>
          <p:cNvSpPr/>
          <p:nvPr/>
        </p:nvSpPr>
        <p:spPr>
          <a:xfrm>
            <a:off x="2378374" y="3161708"/>
            <a:ext cx="65315" cy="110783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37CA2CE3-F4A4-A2F9-A753-1748E2D67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1" y="1645920"/>
            <a:ext cx="5166359" cy="429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50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Systems: </a:t>
            </a:r>
            <a:r>
              <a:rPr lang="vi-V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ground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user interaction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526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29400" y="1417320"/>
            <a:ext cx="4892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interactions í mótly implicit and noisy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224028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vi-VN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 to ìner true preference</a:t>
            </a:r>
          </a:p>
          <a:p>
            <a:pPr marL="228600" indent="-228600">
              <a:buSzPct val="100000"/>
              <a:buChar char="•"/>
            </a:pPr>
            <a:endParaRPr lang="vi-VN" sz="18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implicit feedback (click/watch) → noisy</a:t>
            </a:r>
            <a:endParaRPr lang="vi-VN" sz="18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bias: not-click ≠ dislike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5257800"/>
            <a:ext cx="452628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52578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Clicking does not mean liking, </a:t>
            </a:r>
            <a:endParaRPr lang="vi-VN" dirty="0"/>
          </a:p>
          <a:p>
            <a:r>
              <a:rPr lang="en-US" dirty="0"/>
              <a:t>and not clicking does not mean not liking</a:t>
            </a:r>
            <a:endParaRPr lang="en-US" sz="1400" dirty="0"/>
          </a:p>
        </p:txBody>
      </p:sp>
      <p:sp>
        <p:nvSpPr>
          <p:cNvPr id="18" name="Shape 4"/>
          <p:cNvSpPr/>
          <p:nvPr/>
        </p:nvSpPr>
        <p:spPr>
          <a:xfrm>
            <a:off x="2378374" y="3161708"/>
            <a:ext cx="65315" cy="110783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CECAF49-A105-C45E-C242-2EA7AA60C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37" y="1693506"/>
            <a:ext cx="5175126" cy="4200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C6E0-C20E-23F9-BA5E-E662FAF9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8E839A-22F2-646F-F908-21B494913586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FFFED9-1078-4841-D670-CA57FD47C5B2}"/>
              </a:ext>
            </a:extLst>
          </p:cNvPr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today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3871FD-81CA-E498-C2A2-FDD79AD4F879}"/>
              </a:ext>
            </a:extLst>
          </p:cNvPr>
          <p:cNvSpPr/>
          <p:nvPr/>
        </p:nvSpPr>
        <p:spPr>
          <a:xfrm>
            <a:off x="10698480" y="128016"/>
            <a:ext cx="94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D6397B-8564-04F2-9BDC-08F2DFE859E1}"/>
              </a:ext>
            </a:extLst>
          </p:cNvPr>
          <p:cNvSpPr/>
          <p:nvPr/>
        </p:nvSpPr>
        <p:spPr>
          <a:xfrm>
            <a:off x="822960" y="822960"/>
            <a:ext cx="23121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F0A88B-F1A7-97D6-BC06-9C2CDD550EED}"/>
              </a:ext>
            </a:extLst>
          </p:cNvPr>
          <p:cNvSpPr/>
          <p:nvPr/>
        </p:nvSpPr>
        <p:spPr>
          <a:xfrm>
            <a:off x="822960" y="1645920"/>
            <a:ext cx="2242969" cy="1417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655C2D-CEE0-385B-2118-012AFD094EFE}"/>
              </a:ext>
            </a:extLst>
          </p:cNvPr>
          <p:cNvSpPr/>
          <p:nvPr/>
        </p:nvSpPr>
        <p:spPr>
          <a:xfrm>
            <a:off x="1051560" y="1828800"/>
            <a:ext cx="17942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order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F14444-3A79-98D7-C906-044A145281CB}"/>
              </a:ext>
            </a:extLst>
          </p:cNvPr>
          <p:cNvSpPr/>
          <p:nvPr/>
        </p:nvSpPr>
        <p:spPr>
          <a:xfrm>
            <a:off x="1051560" y="2194560"/>
            <a:ext cx="185959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user–item–user </a:t>
            </a:r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item–user–item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02A4C0-C943-62F8-B3E8-2CD904DDF9A6}"/>
              </a:ext>
            </a:extLst>
          </p:cNvPr>
          <p:cNvSpPr/>
          <p:nvPr/>
        </p:nvSpPr>
        <p:spPr>
          <a:xfrm>
            <a:off x="667126" y="3886200"/>
            <a:ext cx="2380129" cy="1417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F2177FA-DA0A-D0BD-A33E-57785CC16E0A}"/>
              </a:ext>
            </a:extLst>
          </p:cNvPr>
          <p:cNvSpPr/>
          <p:nvPr/>
        </p:nvSpPr>
        <p:spPr>
          <a:xfrm>
            <a:off x="895727" y="4069080"/>
            <a:ext cx="18422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3DF642-BDB3-0F87-1442-6D5B78EF0922}"/>
              </a:ext>
            </a:extLst>
          </p:cNvPr>
          <p:cNvSpPr/>
          <p:nvPr/>
        </p:nvSpPr>
        <p:spPr>
          <a:xfrm>
            <a:off x="895727" y="4434840"/>
            <a:ext cx="215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representations when data is sparse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71F845A-A216-B446-52A7-D3879FB1BA09}"/>
              </a:ext>
            </a:extLst>
          </p:cNvPr>
          <p:cNvSpPr/>
          <p:nvPr/>
        </p:nvSpPr>
        <p:spPr>
          <a:xfrm>
            <a:off x="8839200" y="1600200"/>
            <a:ext cx="2743200" cy="1417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93FFD6-D2C6-91A9-5F5B-75441BEB0999}"/>
              </a:ext>
            </a:extLst>
          </p:cNvPr>
          <p:cNvSpPr/>
          <p:nvPr/>
        </p:nvSpPr>
        <p:spPr>
          <a:xfrm>
            <a:off x="9067800" y="1783080"/>
            <a:ext cx="18781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06F456-5A44-2F9D-B6FF-3EB5A5CC9483}"/>
              </a:ext>
            </a:extLst>
          </p:cNvPr>
          <p:cNvSpPr/>
          <p:nvPr/>
        </p:nvSpPr>
        <p:spPr>
          <a:xfrm>
            <a:off x="9067800" y="2148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simple baseline for graph collaborative filtering</a:t>
            </a:r>
            <a:endParaRPr lang="en-US" sz="1400" dirty="0"/>
          </a:p>
        </p:txBody>
      </p:sp>
      <p:pic>
        <p:nvPicPr>
          <p:cNvPr id="4098" name="Picture 2" descr="The Expressive Power of GNNs — The Message Passing Neural ...">
            <a:extLst>
              <a:ext uri="{FF2B5EF4-FFF2-40B4-BE49-F238E27FC236}">
                <a16:creationId xmlns:a16="http://schemas.microsoft.com/office/drawing/2014/main" id="{31BE8857-17BB-017B-E850-5BC07484E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110" y="1586204"/>
            <a:ext cx="6783290" cy="401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97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GNN/LightGCN still needs improvement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is strong… but it learns from what we feed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53212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assumptions (problematic in feeds)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interaction = positive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item = negative (random sampling)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positives have same strength (click ≈ like)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977640"/>
            <a:ext cx="5120640" cy="1874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contains many weak/noisy edges ⇒ message passing spreads noise ⇒ embeddings misaligned with true preference.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1645920"/>
            <a:ext cx="5532120" cy="4434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2240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changing the GNN architecture, fix the training signal: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697480"/>
            <a:ext cx="5166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multi-behavior to separate strong vs weak positives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true negatives when possible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non-linear reranker to fuse metadata + embeddings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4526280"/>
            <a:ext cx="5074920" cy="0"/>
          </a:xfrm>
          <a:prstGeom prst="line">
            <a:avLst/>
          </a:prstGeom>
          <a:noFill/>
          <a:ln w="254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46177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thesis message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493776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modeling exposure → modeling preference.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in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feedback is noisy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36245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feed recommendation, a click often means “exposed”, not “liked”.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33832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noise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taps, quick scrolls, very short watches ⇒ many “weak positives”.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1920240"/>
            <a:ext cx="33832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5603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≠ disliked. User may never see the item (exposure bias).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0" y="1920240"/>
            <a:ext cx="32004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Multi-behavior gap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41080" y="25603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Like/share/follow are sparse but much stronger preference signals.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80727" y="4514150"/>
            <a:ext cx="8526313" cy="1188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83668" y="4559870"/>
            <a:ext cx="81204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build the graph from noisy clicks, message passing spreads noise and distorts embeddings.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improve the training signal *before* graph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6BCAE-2B95-E204-D45A-B8174836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D986FA-F2CC-279A-DF74-3F375EEC97FE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3356C6-5B93-BAF8-AEF9-4366E702BA4F}"/>
              </a:ext>
            </a:extLst>
          </p:cNvPr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DD81A7-AB3C-6AAA-CBB5-00C849376922}"/>
              </a:ext>
            </a:extLst>
          </p:cNvPr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Tenrec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F40D63-FC0D-4C3F-D1CF-2750B6531090}"/>
              </a:ext>
            </a:extLst>
          </p:cNvPr>
          <p:cNvSpPr/>
          <p:nvPr/>
        </p:nvSpPr>
        <p:spPr>
          <a:xfrm>
            <a:off x="822960" y="834390"/>
            <a:ext cx="28615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Tenrec dataset</a:t>
            </a:r>
            <a:endParaRPr lang="en-US" sz="3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1324B90-FC73-2C2D-FA00-3533D244E8E3}"/>
              </a:ext>
            </a:extLst>
          </p:cNvPr>
          <p:cNvSpPr/>
          <p:nvPr/>
        </p:nvSpPr>
        <p:spPr>
          <a:xfrm>
            <a:off x="1104606" y="1818035"/>
            <a:ext cx="4602478" cy="226567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777963-49AD-40FD-18A0-3AEFD96239E3}"/>
              </a:ext>
            </a:extLst>
          </p:cNvPr>
          <p:cNvSpPr/>
          <p:nvPr/>
        </p:nvSpPr>
        <p:spPr>
          <a:xfrm>
            <a:off x="1505254" y="2056478"/>
            <a:ext cx="1434501" cy="421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/>
              <a:t>Why Tenrec</a:t>
            </a:r>
            <a:endParaRPr lang="en-US" sz="18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AE8298-9824-62EA-B964-7D5EA85FF68A}"/>
              </a:ext>
            </a:extLst>
          </p:cNvPr>
          <p:cNvSpPr/>
          <p:nvPr/>
        </p:nvSpPr>
        <p:spPr>
          <a:xfrm>
            <a:off x="1505254" y="2698145"/>
            <a:ext cx="3926540" cy="1093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Real-world data from Tencent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Multi-behavior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Explicit exposure-based negatives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C4705C-A4F8-1E57-A321-B30B8F522EA3}"/>
              </a:ext>
            </a:extLst>
          </p:cNvPr>
          <p:cNvSpPr/>
          <p:nvPr/>
        </p:nvSpPr>
        <p:spPr>
          <a:xfrm>
            <a:off x="6509724" y="1827877"/>
            <a:ext cx="4399280" cy="226568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2AF614-B12B-9CC6-A1CC-D4E4131B092E}"/>
              </a:ext>
            </a:extLst>
          </p:cNvPr>
          <p:cNvSpPr/>
          <p:nvPr/>
        </p:nvSpPr>
        <p:spPr>
          <a:xfrm>
            <a:off x="7368996" y="2006059"/>
            <a:ext cx="792480" cy="46863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5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374BCA-9412-4DEC-76E0-741062A8DBDB}"/>
              </a:ext>
            </a:extLst>
          </p:cNvPr>
          <p:cNvSpPr/>
          <p:nvPr/>
        </p:nvSpPr>
        <p:spPr>
          <a:xfrm>
            <a:off x="9400996" y="2006059"/>
            <a:ext cx="1164812" cy="46863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5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profiles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102B2EE-52F3-5EAB-A9D4-261C47958D4B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8161476" y="2240374"/>
            <a:ext cx="12395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0772034-88E7-A88F-27C9-B0A117DB918C}"/>
              </a:ext>
            </a:extLst>
          </p:cNvPr>
          <p:cNvSpPr/>
          <p:nvPr/>
        </p:nvSpPr>
        <p:spPr>
          <a:xfrm>
            <a:off x="7356592" y="3427061"/>
            <a:ext cx="792480" cy="46863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5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1087923-7E68-529B-1DCE-CB82C4859CFE}"/>
              </a:ext>
            </a:extLst>
          </p:cNvPr>
          <p:cNvSpPr/>
          <p:nvPr/>
        </p:nvSpPr>
        <p:spPr>
          <a:xfrm>
            <a:off x="9388592" y="3427061"/>
            <a:ext cx="1164812" cy="46863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5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attributes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5DC4FD-564E-6D97-850F-6BE41F228D49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8149072" y="3661376"/>
            <a:ext cx="12395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A0B26FF-7765-4A6E-2B89-BEBCCB097005}"/>
              </a:ext>
            </a:extLst>
          </p:cNvPr>
          <p:cNvSpPr/>
          <p:nvPr/>
        </p:nvSpPr>
        <p:spPr>
          <a:xfrm>
            <a:off x="6959008" y="2716560"/>
            <a:ext cx="1605280" cy="46863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5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u="sng" dirty="0"/>
              <a:t>QK-platform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51755A9-4E32-E8F0-FF1E-973F886D61FE}"/>
              </a:ext>
            </a:extLst>
          </p:cNvPr>
          <p:cNvSpPr/>
          <p:nvPr/>
        </p:nvSpPr>
        <p:spPr>
          <a:xfrm>
            <a:off x="9398752" y="2716560"/>
            <a:ext cx="1164812" cy="46863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5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actions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F24722-D89C-F174-A516-3FA11FB5F66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8564288" y="2950875"/>
            <a:ext cx="83446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1C9E2B-F48D-1CFB-C6E3-8DB0BB551117}"/>
              </a:ext>
            </a:extLst>
          </p:cNvPr>
          <p:cNvCxnSpPr>
            <a:cxnSpLocks/>
            <a:stCxn id="31" idx="0"/>
            <a:endCxn id="38" idx="2"/>
          </p:cNvCxnSpPr>
          <p:nvPr/>
        </p:nvCxnSpPr>
        <p:spPr>
          <a:xfrm flipV="1">
            <a:off x="7752832" y="3185190"/>
            <a:ext cx="8816" cy="2418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8CADE2-9295-7CF0-C490-82DD02F67869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 flipH="1">
            <a:off x="7761648" y="2474689"/>
            <a:ext cx="3588" cy="2418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4" name="Graphic 53" descr="User with solid fill">
            <a:extLst>
              <a:ext uri="{FF2B5EF4-FFF2-40B4-BE49-F238E27FC236}">
                <a16:creationId xmlns:a16="http://schemas.microsoft.com/office/drawing/2014/main" id="{C72086E4-8D72-771F-C668-E901E25C7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725" y="1886632"/>
            <a:ext cx="687903" cy="687903"/>
          </a:xfrm>
          <a:prstGeom prst="rect">
            <a:avLst/>
          </a:prstGeom>
        </p:spPr>
      </p:pic>
      <p:pic>
        <p:nvPicPr>
          <p:cNvPr id="56" name="Graphic 55" descr="Presentation with media with solid fill">
            <a:extLst>
              <a:ext uri="{FF2B5EF4-FFF2-40B4-BE49-F238E27FC236}">
                <a16:creationId xmlns:a16="http://schemas.microsoft.com/office/drawing/2014/main" id="{13812E39-60A1-D0F5-624E-95F55951F7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4346" y="3285530"/>
            <a:ext cx="679087" cy="679087"/>
          </a:xfrm>
          <a:prstGeom prst="rect">
            <a:avLst/>
          </a:prstGeom>
        </p:spPr>
      </p:pic>
      <p:sp>
        <p:nvSpPr>
          <p:cNvPr id="57" name="Shape 5">
            <a:extLst>
              <a:ext uri="{FF2B5EF4-FFF2-40B4-BE49-F238E27FC236}">
                <a16:creationId xmlns:a16="http://schemas.microsoft.com/office/drawing/2014/main" id="{6729DDE2-14DE-AD33-0BDA-2A6589D36448}"/>
              </a:ext>
            </a:extLst>
          </p:cNvPr>
          <p:cNvSpPr/>
          <p:nvPr/>
        </p:nvSpPr>
        <p:spPr>
          <a:xfrm>
            <a:off x="2444413" y="4371876"/>
            <a:ext cx="7303174" cy="221596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A4A6CB-088A-CF30-2BD8-0072692C69E7}"/>
              </a:ext>
            </a:extLst>
          </p:cNvPr>
          <p:cNvSpPr txBox="1"/>
          <p:nvPr/>
        </p:nvSpPr>
        <p:spPr>
          <a:xfrm>
            <a:off x="2921088" y="4518719"/>
            <a:ext cx="1660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Actions: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A7AE5B-0BD4-DC8C-530F-9C0125B7471A}"/>
              </a:ext>
            </a:extLst>
          </p:cNvPr>
          <p:cNvSpPr txBox="1"/>
          <p:nvPr/>
        </p:nvSpPr>
        <p:spPr>
          <a:xfrm>
            <a:off x="5451519" y="4518719"/>
            <a:ext cx="13492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Profiles: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324CE7-F764-E396-7A21-5E794E8F322E}"/>
              </a:ext>
            </a:extLst>
          </p:cNvPr>
          <p:cNvSpPr txBox="1"/>
          <p:nvPr/>
        </p:nvSpPr>
        <p:spPr>
          <a:xfrm>
            <a:off x="7671141" y="4518719"/>
            <a:ext cx="19300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Attributes: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 category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Watching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Click/like/share/ follow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85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B625-D0F9-5798-01DD-7D3BF9C8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0576FC-44AD-D4D4-F9D1-2DE9B80F496B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77515B-DF3E-0B55-BF5F-2D4D34B3754D}"/>
              </a:ext>
            </a:extLst>
          </p:cNvPr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52FE35-D454-1AD7-9C87-774628DE3C7C}"/>
              </a:ext>
            </a:extLst>
          </p:cNvPr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Tenrec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48C1D1-3C19-472B-7F7F-093B045F4163}"/>
              </a:ext>
            </a:extLst>
          </p:cNvPr>
          <p:cNvSpPr/>
          <p:nvPr/>
        </p:nvSpPr>
        <p:spPr>
          <a:xfrm>
            <a:off x="822960" y="834390"/>
            <a:ext cx="28615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Tenrec dataset</a:t>
            </a:r>
            <a:endParaRPr lang="en-US" sz="3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BF8853C-006C-E494-D262-F78BB2492CCB}"/>
              </a:ext>
            </a:extLst>
          </p:cNvPr>
          <p:cNvSpPr/>
          <p:nvPr/>
        </p:nvSpPr>
        <p:spPr>
          <a:xfrm>
            <a:off x="1651000" y="1874520"/>
            <a:ext cx="4602478" cy="17195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6617CD-0E37-80D7-2455-396D791DA4C0}"/>
              </a:ext>
            </a:extLst>
          </p:cNvPr>
          <p:cNvSpPr/>
          <p:nvPr/>
        </p:nvSpPr>
        <p:spPr>
          <a:xfrm>
            <a:off x="1874970" y="2103120"/>
            <a:ext cx="20239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/>
              <a:t>Long tail challenge</a:t>
            </a:r>
            <a:endParaRPr lang="en-US" sz="18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36C4E4-14F8-4FA4-EDAE-EED88C2E006F}"/>
              </a:ext>
            </a:extLst>
          </p:cNvPr>
          <p:cNvSpPr/>
          <p:nvPr/>
        </p:nvSpPr>
        <p:spPr>
          <a:xfrm>
            <a:off x="1874970" y="2507826"/>
            <a:ext cx="3926540" cy="1010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popular items dominate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items are rarely interacted</a:t>
            </a:r>
            <a:endParaRPr lang="en-US" sz="1600" dirty="0"/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F942C60-9DF0-BF4E-3E4E-8A1CA635D9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609287"/>
              </p:ext>
            </p:extLst>
          </p:nvPr>
        </p:nvGraphicFramePr>
        <p:xfrm>
          <a:off x="6545582" y="926252"/>
          <a:ext cx="4602478" cy="3078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Picture 14" descr="A graph with a line&#10;&#10;AI-generated content may be incorrect.">
            <a:extLst>
              <a:ext uri="{FF2B5EF4-FFF2-40B4-BE49-F238E27FC236}">
                <a16:creationId xmlns:a16="http://schemas.microsoft.com/office/drawing/2014/main" id="{5451EFC8-76DD-E2CF-AD5F-8B5DF2ABB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" y="3886459"/>
            <a:ext cx="9563100" cy="22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42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Cascade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34390"/>
            <a:ext cx="6640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Cascaded Framework (high level)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1" y="1874520"/>
            <a:ext cx="2417780" cy="2057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15975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RF Denoise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20412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signals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(like/share/follow)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pseudo-label clicks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2070" y="2788920"/>
            <a:ext cx="685799" cy="32004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972722" y="1885950"/>
            <a:ext cx="2423160" cy="2057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01322" y="2114550"/>
            <a:ext cx="1772322" cy="331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LightGCN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01322" y="2526030"/>
            <a:ext cx="19740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embeddings 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graph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hybrid negatives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47211" y="2754630"/>
            <a:ext cx="691179" cy="32004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89720" y="1874520"/>
            <a:ext cx="2423160" cy="2057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0" y="2103120"/>
            <a:ext cx="1584064" cy="331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RF Rerank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18320" y="251460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embeddings +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stats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better ordering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10789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4343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“hybrid”?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4709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GNN captures collaborative structure (high-order signals)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is strong for noisy, heterogeneous features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Cascade lets each stage fix a specific failure mode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/mnt/data/c8bb8df8-3fac-4cac-af46-af03f5e647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656" y="319980"/>
            <a:ext cx="4349384" cy="621804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07040" y="1280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0529" y="777239"/>
            <a:ext cx="2807746" cy="5152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preprocessing </a:t>
            </a:r>
          </a:p>
          <a:p>
            <a:pPr marL="0" indent="0" algn="ctr">
              <a:buNone/>
            </a:pPr>
            <a:endParaRPr lang="en-US" sz="2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  <a:p>
            <a:pPr marL="0" indent="0" algn="ctr">
              <a:buNone/>
            </a:pPr>
            <a:endParaRPr lang="en-US" sz="2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denoising </a:t>
            </a:r>
          </a:p>
          <a:p>
            <a:pPr algn="ctr"/>
            <a:endParaRPr lang="en-US" sz="2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vi-VN" sz="2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2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 learning  </a:t>
            </a:r>
          </a:p>
          <a:p>
            <a:pPr algn="ctr"/>
            <a:endParaRPr lang="en-US" sz="2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  <a:p>
            <a:pPr marL="0" indent="0" algn="ctr">
              <a:buNone/>
            </a:pPr>
            <a:endParaRPr lang="en-US" sz="22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68680" y="6263639"/>
            <a:ext cx="1027176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1560" y="63550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Clean the labels → learn embeddings → rerank with metadata.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Interaction denoising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Teacher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49808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separate strong preference from weak clicks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17043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 Random Forest on high-confidence signals, then pseudo-label ambiguous cases.</a:t>
            </a:r>
            <a:endParaRPr lang="en-US" sz="1600" dirty="0"/>
          </a:p>
        </p:txBody>
      </p:sp>
      <p:pic>
        <p:nvPicPr>
          <p:cNvPr id="7" name="Image 0" descr="/mnt/data/d4b25dab-e887-4898-847b-8cc3844850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112" y="1600200"/>
            <a:ext cx="7570255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4617720"/>
            <a:ext cx="103174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51560" y="4773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denoising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5074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 set: strong positives + high-confidence “weak positives”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pool: exposed-but-ignored / low-confidence interactions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 uncertain cases to reduce noise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2–3 — LightGCN + Reranking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embeddings, then improve ordering with metadata</a:t>
            </a:r>
            <a:endParaRPr lang="en-US" sz="2400" dirty="0"/>
          </a:p>
        </p:txBody>
      </p:sp>
      <p:pic>
        <p:nvPicPr>
          <p:cNvPr id="6" name="Image 0" descr="/mnt/data/3076b7a2-6264-48c6-b36e-ed20bac44f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944" y="1417320"/>
            <a:ext cx="6954592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4343400"/>
            <a:ext cx="4785360" cy="1828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0" y="4343400"/>
            <a:ext cx="4785360" cy="1828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97280" y="4480560"/>
            <a:ext cx="34209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(graph learning)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4800600"/>
            <a:ext cx="402604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on cleaned graph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BPR loss (u, pos, neg)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sampling: hybrid(true-neg + random)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4480560"/>
            <a:ext cx="2622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Reranking (non-linear)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3442447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embeddings + metadata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non-linear patterns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NDCG by reordering top-N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snapshot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improves ranking quality (NDCG) and discrimination (AUC)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1572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(QB-video)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9202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3317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3317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Rerank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7432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3400" y="27432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2743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154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154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43400" y="3154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2331720"/>
            <a:ext cx="5394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886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improve ordering (NDCG) and preference separation (AUC). Recall can trade off depending on how strict denoising is.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behavior (example)</a:t>
            </a:r>
            <a:endParaRPr lang="en-US" sz="1600" dirty="0"/>
          </a:p>
        </p:txBody>
      </p:sp>
      <p:pic>
        <p:nvPicPr>
          <p:cNvPr id="27" name="Image 0" descr="/mnt/data/f16c2667-b458-44cc-b3bc-a153fef1e6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232" y="1874520"/>
            <a:ext cx="2488776" cy="1965960"/>
          </a:xfrm>
          <a:prstGeom prst="rect">
            <a:avLst/>
          </a:prstGeom>
        </p:spPr>
      </p:pic>
      <p:pic>
        <p:nvPicPr>
          <p:cNvPr id="28" name="Image 1" descr="/mnt/data/7f78a065-1072-4f77-8692-0936a5b915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49" y="3886200"/>
            <a:ext cx="2523342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what helps / what hurts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reranking is consistently helpful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207008"/>
            <a:ext cx="10096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denoise + true-neg settings underperform because evaluation uses click-only positives.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822960" y="164592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88458"/>
            <a:ext cx="4069080" cy="4292301"/>
          </a:xfrm>
          <a:custGeom>
            <a:avLst/>
            <a:gdLst>
              <a:gd name="csX0" fmla="*/ 0 w 4434840"/>
              <a:gd name="csY0" fmla="*/ 739155 h 4593515"/>
              <a:gd name="csX1" fmla="*/ 739155 w 4434840"/>
              <a:gd name="csY1" fmla="*/ 0 h 4593515"/>
              <a:gd name="csX2" fmla="*/ 3695685 w 4434840"/>
              <a:gd name="csY2" fmla="*/ 0 h 4593515"/>
              <a:gd name="csX3" fmla="*/ 4434840 w 4434840"/>
              <a:gd name="csY3" fmla="*/ 739155 h 4593515"/>
              <a:gd name="csX4" fmla="*/ 4434840 w 4434840"/>
              <a:gd name="csY4" fmla="*/ 3854360 h 4593515"/>
              <a:gd name="csX5" fmla="*/ 3695685 w 4434840"/>
              <a:gd name="csY5" fmla="*/ 4593515 h 4593515"/>
              <a:gd name="csX6" fmla="*/ 739155 w 4434840"/>
              <a:gd name="csY6" fmla="*/ 4593515 h 4593515"/>
              <a:gd name="csX7" fmla="*/ 0 w 4434840"/>
              <a:gd name="csY7" fmla="*/ 3854360 h 4593515"/>
              <a:gd name="csX8" fmla="*/ 0 w 4434840"/>
              <a:gd name="csY8" fmla="*/ 739155 h 4593515"/>
              <a:gd name="csX0" fmla="*/ 0 w 4434840"/>
              <a:gd name="csY0" fmla="*/ 739155 h 4606962"/>
              <a:gd name="csX1" fmla="*/ 739155 w 4434840"/>
              <a:gd name="csY1" fmla="*/ 0 h 4606962"/>
              <a:gd name="csX2" fmla="*/ 3695685 w 4434840"/>
              <a:gd name="csY2" fmla="*/ 0 h 4606962"/>
              <a:gd name="csX3" fmla="*/ 4434840 w 4434840"/>
              <a:gd name="csY3" fmla="*/ 739155 h 4606962"/>
              <a:gd name="csX4" fmla="*/ 4434840 w 4434840"/>
              <a:gd name="csY4" fmla="*/ 3854360 h 4606962"/>
              <a:gd name="csX5" fmla="*/ 3695685 w 4434840"/>
              <a:gd name="csY5" fmla="*/ 4593515 h 4606962"/>
              <a:gd name="csX6" fmla="*/ 456767 w 4434840"/>
              <a:gd name="csY6" fmla="*/ 4606962 h 4606962"/>
              <a:gd name="csX7" fmla="*/ 0 w 4434840"/>
              <a:gd name="csY7" fmla="*/ 3854360 h 4606962"/>
              <a:gd name="csX8" fmla="*/ 0 w 4434840"/>
              <a:gd name="csY8" fmla="*/ 739155 h 4606962"/>
              <a:gd name="csX0" fmla="*/ 0 w 4434840"/>
              <a:gd name="csY0" fmla="*/ 739155 h 4606962"/>
              <a:gd name="csX1" fmla="*/ 739155 w 4434840"/>
              <a:gd name="csY1" fmla="*/ 0 h 4606962"/>
              <a:gd name="csX2" fmla="*/ 3695685 w 4434840"/>
              <a:gd name="csY2" fmla="*/ 0 h 4606962"/>
              <a:gd name="csX3" fmla="*/ 4434840 w 4434840"/>
              <a:gd name="csY3" fmla="*/ 739155 h 4606962"/>
              <a:gd name="csX4" fmla="*/ 4434840 w 4434840"/>
              <a:gd name="csY4" fmla="*/ 3854360 h 4606962"/>
              <a:gd name="csX5" fmla="*/ 3978073 w 4434840"/>
              <a:gd name="csY5" fmla="*/ 4593515 h 4606962"/>
              <a:gd name="csX6" fmla="*/ 456767 w 4434840"/>
              <a:gd name="csY6" fmla="*/ 4606962 h 4606962"/>
              <a:gd name="csX7" fmla="*/ 0 w 4434840"/>
              <a:gd name="csY7" fmla="*/ 3854360 h 4606962"/>
              <a:gd name="csX8" fmla="*/ 0 w 4434840"/>
              <a:gd name="csY8" fmla="*/ 739155 h 4606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434840" h="4606962">
                <a:moveTo>
                  <a:pt x="0" y="739155"/>
                </a:moveTo>
                <a:cubicBezTo>
                  <a:pt x="0" y="330931"/>
                  <a:pt x="330931" y="0"/>
                  <a:pt x="739155" y="0"/>
                </a:cubicBezTo>
                <a:lnTo>
                  <a:pt x="3695685" y="0"/>
                </a:lnTo>
                <a:cubicBezTo>
                  <a:pt x="4103909" y="0"/>
                  <a:pt x="4434840" y="330931"/>
                  <a:pt x="4434840" y="739155"/>
                </a:cubicBezTo>
                <a:lnTo>
                  <a:pt x="4434840" y="3854360"/>
                </a:lnTo>
                <a:cubicBezTo>
                  <a:pt x="4434840" y="4262584"/>
                  <a:pt x="4386297" y="4593515"/>
                  <a:pt x="3978073" y="4593515"/>
                </a:cubicBezTo>
                <a:lnTo>
                  <a:pt x="456767" y="4606962"/>
                </a:lnTo>
                <a:cubicBezTo>
                  <a:pt x="48543" y="4606962"/>
                  <a:pt x="0" y="4262584"/>
                  <a:pt x="0" y="3854360"/>
                </a:cubicBezTo>
                <a:lnTo>
                  <a:pt x="0" y="739155"/>
                </a:lnTo>
                <a:close/>
              </a:path>
            </a:pathLst>
          </a:cu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26680" y="2030505"/>
            <a:ext cx="1820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26680" y="2566235"/>
            <a:ext cx="3840480" cy="157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A1 &gt; A0: reranking improves ordering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A2 &lt; A0: denoise removes many click-positives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A3/A4: true-neg is “too strict” under click-only evaluation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Takeaway: preference-aware learning needs aligned evaluation (e.g., like/share targets).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26680" y="4555865"/>
            <a:ext cx="3642360" cy="1051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909560" y="4674737"/>
            <a:ext cx="30094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message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09560" y="4949057"/>
            <a:ext cx="3459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denoising is imperfect, reranking remains a strong, reliable gain.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(friendly website)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8906069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6172200"/>
            <a:ext cx="1078992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63276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demo: make the pipeline understandable, not just numbers.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1F2621-433F-0B1A-20EB-5091B7223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05" y="658368"/>
            <a:ext cx="10005342" cy="53781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0" y="1280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contributes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317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9202783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Preference-aware denoising: use multi-behavior (like/share/follow) to re-label weak clicks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graph for LightGCN: reduce noisy edges so message passing learns better embeddings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reranking: RF fuses embeddings + metadata → better top-N ordering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10317480" cy="2148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message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5120640"/>
            <a:ext cx="9555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GNN recommenders in real feeds, we must improve the *training signal* (preference) and then improve the *ranking* (rerank).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5897880"/>
            <a:ext cx="92027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evaluate using preference targets (like/share), run full ablation, and deploy the demo for user study.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22CC208A-271A-7908-8329-BD0EAEB9238A}"/>
              </a:ext>
            </a:extLst>
          </p:cNvPr>
          <p:cNvSpPr/>
          <p:nvPr/>
        </p:nvSpPr>
        <p:spPr>
          <a:xfrm>
            <a:off x="4475178" y="4300179"/>
            <a:ext cx="3241641" cy="836579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93A076-75CA-A0D3-7592-13EFC37524D2}"/>
              </a:ext>
            </a:extLst>
          </p:cNvPr>
          <p:cNvSpPr/>
          <p:nvPr/>
        </p:nvSpPr>
        <p:spPr>
          <a:xfrm>
            <a:off x="9969230" y="1806913"/>
            <a:ext cx="4445540" cy="11430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B3EC63-D6D2-DE4E-859E-7557D9486366}"/>
              </a:ext>
            </a:extLst>
          </p:cNvPr>
          <p:cNvSpPr/>
          <p:nvPr/>
        </p:nvSpPr>
        <p:spPr>
          <a:xfrm>
            <a:off x="-2222770" y="1806913"/>
            <a:ext cx="4445540" cy="1143000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57728-6AF4-5E03-7CDF-AFB265B7A0C3}"/>
              </a:ext>
            </a:extLst>
          </p:cNvPr>
          <p:cNvSpPr txBox="1"/>
          <p:nvPr/>
        </p:nvSpPr>
        <p:spPr>
          <a:xfrm>
            <a:off x="3309836" y="1781199"/>
            <a:ext cx="557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THANK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2FFE7-597E-141F-436D-CA003B990127}"/>
              </a:ext>
            </a:extLst>
          </p:cNvPr>
          <p:cNvSpPr txBox="1"/>
          <p:nvPr/>
        </p:nvSpPr>
        <p:spPr>
          <a:xfrm>
            <a:off x="4650732" y="4426082"/>
            <a:ext cx="2890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 for Q&amp;A</a:t>
            </a:r>
          </a:p>
        </p:txBody>
      </p:sp>
    </p:spTree>
    <p:extLst>
      <p:ext uri="{BB962C8B-B14F-4D97-AF65-F5344CB8AC3E}">
        <p14:creationId xmlns:p14="http://schemas.microsoft.com/office/powerpoint/2010/main" val="225984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1498</Words>
  <Application>Microsoft Office PowerPoint</Application>
  <PresentationFormat>Widescreen</PresentationFormat>
  <Paragraphs>234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Thesis Presentation</dc:creator>
  <cp:lastModifiedBy>Quang Anh Trinh</cp:lastModifiedBy>
  <cp:revision>3</cp:revision>
  <dcterms:created xsi:type="dcterms:W3CDTF">2025-12-21T10:15:43Z</dcterms:created>
  <dcterms:modified xsi:type="dcterms:W3CDTF">2025-12-22T08:46:21Z</dcterms:modified>
</cp:coreProperties>
</file>